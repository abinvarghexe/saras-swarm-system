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8ae5457-2c1a-a6a6-da65-e637347ac190}">
          <p14:sldIdLst>
            <p14:sldId id="256"/>
            <p14:sldId id="257"/>
            <p14:sldId id="258"/>
          </p14:sldIdLst>
        </p14:section>
        <p14:section name="Literature &amp; Objectives" id="{bed9c0bb-7289-2ebc-4c93-9cb70bd2e9fd}">
          <p14:sldIdLst>
            <p14:sldId id="259"/>
            <p14:sldId id="260"/>
          </p14:sldIdLst>
        </p14:section>
        <p14:section name="Methodology" id="{f8048b50-a7ed-0926-19ed-de1226adb096}">
          <p14:sldIdLst>
            <p14:sldId id="261"/>
            <p14:sldId id="262"/>
            <p14:sldId id="263"/>
            <p14:sldId id="264"/>
            <p14:sldId id="265"/>
          </p14:sldIdLst>
        </p14:section>
        <p14:section name="Results" id="{0f093423-a7fb-63d7-a27d-1d2bfbef5ba0}">
          <p14:sldIdLst>
            <p14:sldId id="266"/>
            <p14:sldId id="267"/>
            <p14:sldId id="268"/>
            <p14:sldId id="269"/>
          </p14:sldIdLst>
        </p14:section>
        <p14:section name="Conclusion" id="{be879975-8d4a-44ae-558d-b943b2379428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A"/>
                </a:solidFill>
                <a:latin typeface="+mn-lt"/>
              </a:rPr>
              <a:t>RCTP gain over each baseline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 improvement (%)</c:v>
                </c:pt>
              </c:strCache>
            </c:strRef>
          </c:tx>
          <c:spPr>
            <a:solidFill>
              <a:srgbClr val="2E5CA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A556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vs MA-DDPG</c:v>
                  </c:pt>
                  <c:pt idx="1">
                    <c:v>vs DQN</c:v>
                  </c:pt>
                  <c:pt idx="2">
                    <c:v>vs PPO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28.57</c:v>
                </c:pt>
                <c:pt idx="1">
                  <c:v>60.71</c:v>
                </c:pt>
                <c:pt idx="2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Convergence-time reduction (%)</c:v>
                </c:pt>
              </c:strCache>
            </c:strRef>
          </c:tx>
          <c:spPr>
            <a:solidFill>
              <a:srgbClr val="1A8B8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A556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vs MA-DDPG</c:v>
                  </c:pt>
                  <c:pt idx="1">
                    <c:v>vs DQN</c:v>
                  </c:pt>
                  <c:pt idx="2">
                    <c:v>vs PPO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28.5</c:v>
                </c:pt>
                <c:pt idx="1">
                  <c:v>42.86</c:v>
                </c:pt>
                <c:pt idx="2">
                  <c:v>50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4A556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 am Abin Varghese, S7 CSE. My seminar covers adaptive coalition-based UAV coordination for disaster response, under Dr. Jacob John, based on Poudel and Moh, Internet of Things, March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motivation, literature gaps, objectives, the RCTP method, results, and conclusion with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first 72 hours after a disaster survival chances fall sharply, while roads and communications are damaged. A single drone has limited endurance and is a single point of failure. A heterogeneous swarm covers ground in parallel, but coordinating it without a central server under intermittent links is the open problem this paper addresses.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work treats coalition formation, task assignment and path planning in isolation. Heuristics and games assume static settings; RL methods train on fixed task distributions and need retraining. RCTP unifies all three with meta-learning.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goals: rapid adaptation via MAML, resource-aware coalitions, priority scheduling with fairness, continuous 3D control, online fault tolerance, and millisecond-level inference on embedded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UAVs differ in payload, speed, sensing, communication and energy. Fig. 2 shows task sequences per coalition by priority. Each UAV senses locally, shares status over lossy LoS/NLoS links, scores tasks, forms coalitions and flies with a local MA-DDPG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S_ij scores how suitable UAV i is for task j: payload, battery, capability match, minus distance. All terms are min-max normalised and weights sum to one, so the score is interpretable. It is updated online, which triggers coalition reformation without retraining.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Offline: MAML meta-trains on diverse disaster scenarios. Online: each UAV runs a lightweight actor; a planning layer scores suitability, assigns urgent tasks first and replans paths. Health monitoring releases and reassigns tasks when a UAV fails. Centralised critic is used only in training (CTDE).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MA-DDPG gives continuous actions, so no grid discretisation. MAML trains an initialisation that adapts with a few gradient steps. In Fig. 7 both start near 52-55% task completion, but RCTP rises to about 90% by step 10 while MA-DDPG without MAML barely improves.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MATLAB R2023b with the Reinforcement Learning Toolbox. 3D 1000 m cube, 10 to 30 heterogeneous UAVs, 6 to 20 tasks, static and dynamic obstacles. Fig. 4 shows deployment, assignment and obstacle-aware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Fig. 5 shows RCTP collects the highest average reward. RCTP improves reward by 28.57, 50 and 60.71 percent over MA-DDPG, PPO and DQN, and cuts convergence time by 28.5, 42.86 and 50 percent. Task completion time drops 30 to 40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 efficiency is 8 to 20 percent better depending on baseline. Jain fairness ends 8.7 percent above MA-DDPG. Collisions drop 30 to 50 percent. Failure handling: health status vector detects a failed UAV, its tasks are released and reassigned using updated suitability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are the paper’s reported simulation gains of RCTP over each baseline. Comparison covers DQN, PPO and MA-DDPG; MAPPO is listed by the authors as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Fig. 12: full RCTP reaches about 92 percent task success. Removing resource-aware coalition formation causes the largest drop, then MAML adaptation, failure handling, and energy-aware planning. Each component contributes.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Conclusions: unified coalition, assignment and path planning; 30-40% faster completion and 10-20% lower energy; few-shot adaptation. Limits: possible degradation out of distribution, weather not explicitly modelled, simulation only. Future work: stronger meta-learning, larger multi-agency swarms, wind/visibility modelling, field trials, MAPPO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paper and the key works it builds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guide, department, authors, and peers.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I am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1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645920"/>
            <a:ext cx="32004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</a:rPr>
              <a:t>Swarm Intelligence for Disaster Response via MAML-Integrated MARL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</a:rPr>
              <a:t>Swarm Intelligence for Disaster Response via MAML-Integrated MARL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14400" y="3291840"/>
            <a:ext cx="103601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64592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Swarm Intelligence for Disaster Response</a:t>
            </a:r>
            <a:endParaRPr lang="en-US" sz="3200" dirty="0"/>
          </a:p>
        </p:txBody>
      </p:sp>
      <p:sp>
        <p:nvSpPr>
          <p:cNvPr id="3" name="Kicker"/>
          <p:cNvSpPr txBox="1"/>
          <p:nvPr/>
        </p:nvSpPr>
        <p:spPr>
          <a:xfrm>
            <a:off x="640080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B2D6"/>
                </a:solidFill>
              </a:rPr>
              <a:t>ENGINEERING SEMINAR</a:t>
            </a:r>
            <a:endParaRPr lang="en-US" sz="12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B8C7DD"/>
                </a:solidFill>
              </a:rPr>
              <a:t>Adaptive Coalition-Based UAV Coordination with Meta-Reinforcement Learning</a:t>
            </a:r>
            <a:endParaRPr lang="en-US" sz="1800" dirty="0"/>
          </a:p>
        </p:txBody>
      </p:sp>
      <p:sp>
        <p:nvSpPr>
          <p:cNvPr id="5" name="Dot 1"/>
          <p:cNvSpPr/>
          <p:nvPr/>
        </p:nvSpPr>
        <p:spPr>
          <a:xfrm>
            <a:off x="3383280" y="5212080"/>
            <a:ext cx="365760" cy="365760"/>
          </a:xfrm>
          <a:prstGeom prst="ellipse">
            <a:avLst/>
          </a:prstGeom>
          <a:solidFill>
            <a:srgbClr val="1A8B8B"/>
          </a:solidFill>
          <a:ln w="12700">
            <a:solidFill>
              <a:srgbClr val="1A8B8B"/>
            </a:solidFill>
            <a:prstDash val="solid"/>
          </a:ln>
        </p:spPr>
      </p:sp>
      <p:sp>
        <p:nvSpPr>
          <p:cNvPr id="6" name="Dot 2"/>
          <p:cNvSpPr/>
          <p:nvPr/>
        </p:nvSpPr>
        <p:spPr>
          <a:xfrm>
            <a:off x="3749040" y="5532120"/>
            <a:ext cx="201168" cy="201168"/>
          </a:xfrm>
          <a:prstGeom prst="ellipse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7" name="Dot 3"/>
          <p:cNvSpPr/>
          <p:nvPr/>
        </p:nvSpPr>
        <p:spPr>
          <a:xfrm>
            <a:off x="3063240" y="5760720"/>
            <a:ext cx="109728" cy="109728"/>
          </a:xfrm>
          <a:prstGeom prst="ellipse">
            <a:avLst/>
          </a:prstGeom>
          <a:solidFill>
            <a:srgbClr val="2E5CAA"/>
          </a:solidFill>
          <a:ln w="12700">
            <a:solidFill>
              <a:srgbClr val="2E5CAA"/>
            </a:solidFill>
            <a:prstDash val="solid"/>
          </a:ln>
        </p:spPr>
      </p:sp>
      <p:sp>
        <p:nvSpPr>
          <p:cNvPr id="8" name="Seminar title label"/>
          <p:cNvSpPr txBox="1"/>
          <p:nvPr/>
        </p:nvSpPr>
        <p:spPr>
          <a:xfrm>
            <a:off x="5029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B8B"/>
                </a:solidFill>
              </a:rPr>
              <a:t>Seminar Title</a:t>
            </a:r>
            <a:endParaRPr lang="en-US" sz="1300" dirty="0"/>
          </a:p>
        </p:txBody>
      </p:sp>
      <p:sp>
        <p:nvSpPr>
          <p:cNvPr id="9" name="Seminar title"/>
          <p:cNvSpPr txBox="1"/>
          <p:nvPr/>
        </p:nvSpPr>
        <p:spPr>
          <a:xfrm>
            <a:off x="5029200" y="12344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Swarm Intelligence for Disaster Response: Adaptive Coalition-Based Task Assignment and Path Planning in Multi-UAV Systems Using Meta-Reinforcement Learning</a:t>
            </a:r>
            <a:endParaRPr lang="en-US" sz="2300" dirty="0"/>
          </a:p>
        </p:txBody>
      </p:sp>
      <p:sp>
        <p:nvSpPr>
          <p:cNvPr id="10" name="Label Presented by"/>
          <p:cNvSpPr txBox="1"/>
          <p:nvPr/>
        </p:nvSpPr>
        <p:spPr>
          <a:xfrm>
            <a:off x="502920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B2D6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11" name="Value Presented by"/>
          <p:cNvSpPr txBox="1"/>
          <p:nvPr/>
        </p:nvSpPr>
        <p:spPr>
          <a:xfrm>
            <a:off x="704088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Abin Varghese</a:t>
            </a:r>
            <a:endParaRPr lang="en-US" sz="1400" dirty="0"/>
          </a:p>
        </p:txBody>
      </p:sp>
      <p:sp>
        <p:nvSpPr>
          <p:cNvPr id="12" name="Label Roll Number"/>
          <p:cNvSpPr txBox="1"/>
          <p:nvPr/>
        </p:nvSpPr>
        <p:spPr>
          <a:xfrm>
            <a:off x="502920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B2D6"/>
                </a:solidFill>
              </a:rPr>
              <a:t>Roll Number</a:t>
            </a:r>
            <a:endParaRPr lang="en-US" sz="1400" dirty="0"/>
          </a:p>
        </p:txBody>
      </p:sp>
      <p:sp>
        <p:nvSpPr>
          <p:cNvPr id="13" name="Value Roll Number"/>
          <p:cNvSpPr txBox="1"/>
          <p:nvPr/>
        </p:nvSpPr>
        <p:spPr>
          <a:xfrm>
            <a:off x="7040880" y="3520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AJC23CS006</a:t>
            </a:r>
            <a:endParaRPr lang="en-US" sz="1400" dirty="0"/>
          </a:p>
        </p:txBody>
      </p:sp>
      <p:sp>
        <p:nvSpPr>
          <p:cNvPr id="14" name="Label Guide"/>
          <p:cNvSpPr txBox="1"/>
          <p:nvPr/>
        </p:nvSpPr>
        <p:spPr>
          <a:xfrm>
            <a:off x="5029200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B2D6"/>
                </a:solidFill>
              </a:rPr>
              <a:t>Guide</a:t>
            </a:r>
            <a:endParaRPr lang="en-US" sz="1400" dirty="0"/>
          </a:p>
        </p:txBody>
      </p:sp>
      <p:sp>
        <p:nvSpPr>
          <p:cNvPr id="15" name="Value Guide"/>
          <p:cNvSpPr txBox="1"/>
          <p:nvPr/>
        </p:nvSpPr>
        <p:spPr>
          <a:xfrm>
            <a:off x="7040880" y="3977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Dr. Jacob John</a:t>
            </a:r>
            <a:endParaRPr lang="en-US" sz="1400" dirty="0"/>
          </a:p>
        </p:txBody>
      </p:sp>
      <p:sp>
        <p:nvSpPr>
          <p:cNvPr id="16" name="Label Department"/>
          <p:cNvSpPr txBox="1"/>
          <p:nvPr/>
        </p:nvSpPr>
        <p:spPr>
          <a:xfrm>
            <a:off x="5029200" y="4434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B2D6"/>
                </a:solidFill>
              </a:rPr>
              <a:t>Department</a:t>
            </a:r>
            <a:endParaRPr lang="en-US" sz="1400" dirty="0"/>
          </a:p>
        </p:txBody>
      </p:sp>
      <p:sp>
        <p:nvSpPr>
          <p:cNvPr id="17" name="Value Department"/>
          <p:cNvSpPr txBox="1"/>
          <p:nvPr/>
        </p:nvSpPr>
        <p:spPr>
          <a:xfrm>
            <a:off x="7040880" y="4434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Computer Science and Engineering</a:t>
            </a:r>
            <a:endParaRPr lang="en-US" sz="1400" dirty="0"/>
          </a:p>
        </p:txBody>
      </p:sp>
      <p:sp>
        <p:nvSpPr>
          <p:cNvPr id="18" name="Label Institution"/>
          <p:cNvSpPr txBox="1"/>
          <p:nvPr/>
        </p:nvSpPr>
        <p:spPr>
          <a:xfrm>
            <a:off x="5029200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B2D6"/>
                </a:solidFill>
              </a:rPr>
              <a:t>Institution</a:t>
            </a:r>
            <a:endParaRPr lang="en-US" sz="1400" dirty="0"/>
          </a:p>
        </p:txBody>
      </p:sp>
      <p:sp>
        <p:nvSpPr>
          <p:cNvPr id="19" name="Value Institution"/>
          <p:cNvSpPr txBox="1"/>
          <p:nvPr/>
        </p:nvSpPr>
        <p:spPr>
          <a:xfrm>
            <a:off x="7040880" y="4892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Amal Jyothi College of Engineering (Autonomous), Kanjirappally</a:t>
            </a:r>
            <a:endParaRPr lang="en-US" sz="1400" dirty="0"/>
          </a:p>
        </p:txBody>
      </p:sp>
      <p:sp>
        <p:nvSpPr>
          <p:cNvPr id="20" name="Label Date"/>
          <p:cNvSpPr txBox="1"/>
          <p:nvPr/>
        </p:nvSpPr>
        <p:spPr>
          <a:xfrm>
            <a:off x="5029200" y="5349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B2D6"/>
                </a:solidFill>
              </a:rPr>
              <a:t>Date</a:t>
            </a:r>
            <a:endParaRPr lang="en-US" sz="1400" dirty="0"/>
          </a:p>
        </p:txBody>
      </p:sp>
      <p:sp>
        <p:nvSpPr>
          <p:cNvPr id="21" name="Value Date"/>
          <p:cNvSpPr txBox="1"/>
          <p:nvPr/>
        </p:nvSpPr>
        <p:spPr>
          <a:xfrm>
            <a:off x="7040880" y="5349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October 2026</a:t>
            </a:r>
            <a:endParaRPr lang="en-US" sz="1400" dirty="0"/>
          </a:p>
        </p:txBody>
      </p:sp>
      <p:sp>
        <p:nvSpPr>
          <p:cNvPr id="22" name="Base paper"/>
          <p:cNvSpPr txBox="1"/>
          <p:nvPr/>
        </p:nvSpPr>
        <p:spPr>
          <a:xfrm>
            <a:off x="5029200" y="62179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93A3"/>
                </a:solidFill>
              </a:rPr>
              <a:t>Based on: Poudel &amp; Moh, Internet of Things 37 (2026) 101930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Contents</a:t>
            </a:r>
            <a:endParaRPr lang="en-US" sz="3000" dirty="0"/>
          </a:p>
        </p:txBody>
      </p:sp>
      <p:sp>
        <p:nvSpPr>
          <p:cNvPr id="4" name="Badge 1"/>
          <p:cNvSpPr txBox="1"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2E5C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Contents item 1"/>
          <p:cNvSpPr txBox="1"/>
          <p:nvPr/>
        </p:nvSpPr>
        <p:spPr>
          <a:xfrm>
            <a:off x="1325880" y="1463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Introduction</a:t>
            </a:r>
            <a:endParaRPr lang="en-US" sz="1500" dirty="0"/>
          </a:p>
        </p:txBody>
      </p:sp>
      <p:sp>
        <p:nvSpPr>
          <p:cNvPr id="6" name="Badge 2"/>
          <p:cNvSpPr txBox="1"/>
          <p:nvPr/>
        </p:nvSpPr>
        <p:spPr>
          <a:xfrm>
            <a:off x="548640" y="2377440"/>
            <a:ext cx="548640" cy="548640"/>
          </a:xfrm>
          <a:prstGeom prst="ellipse">
            <a:avLst/>
          </a:prstGeom>
          <a:solidFill>
            <a:srgbClr val="2E5C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Contents item 2"/>
          <p:cNvSpPr txBox="1"/>
          <p:nvPr/>
        </p:nvSpPr>
        <p:spPr>
          <a:xfrm>
            <a:off x="1325880" y="2377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Existing Works / Literature Survey</a:t>
            </a:r>
            <a:endParaRPr lang="en-US" sz="1500" dirty="0"/>
          </a:p>
        </p:txBody>
      </p:sp>
      <p:sp>
        <p:nvSpPr>
          <p:cNvPr id="8" name="Badge 3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E5C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Contents item 3"/>
          <p:cNvSpPr txBox="1"/>
          <p:nvPr/>
        </p:nvSpPr>
        <p:spPr>
          <a:xfrm>
            <a:off x="1325880" y="3291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Objectives</a:t>
            </a:r>
            <a:endParaRPr lang="en-US" sz="1500" dirty="0"/>
          </a:p>
        </p:txBody>
      </p:sp>
      <p:sp>
        <p:nvSpPr>
          <p:cNvPr id="10" name="Badge 4"/>
          <p:cNvSpPr txBox="1"/>
          <p:nvPr/>
        </p:nvSpPr>
        <p:spPr>
          <a:xfrm>
            <a:off x="548640" y="4206240"/>
            <a:ext cx="548640" cy="548640"/>
          </a:xfrm>
          <a:prstGeom prst="ellipse">
            <a:avLst/>
          </a:prstGeom>
          <a:solidFill>
            <a:srgbClr val="2E5C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Contents item 4"/>
          <p:cNvSpPr txBox="1"/>
          <p:nvPr/>
        </p:nvSpPr>
        <p:spPr>
          <a:xfrm>
            <a:off x="1325880" y="4206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Methodology — System Model &amp; Coalition Formation</a:t>
            </a:r>
            <a:endParaRPr lang="en-US" sz="1500" dirty="0"/>
          </a:p>
        </p:txBody>
      </p:sp>
      <p:sp>
        <p:nvSpPr>
          <p:cNvPr id="12" name="Badge 5"/>
          <p:cNvSpPr txBox="1"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solidFill>
            <a:srgbClr val="2E5C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Contents item 5"/>
          <p:cNvSpPr txBox="1"/>
          <p:nvPr/>
        </p:nvSpPr>
        <p:spPr>
          <a:xfrm>
            <a:off x="1325880" y="5120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Methodology — Pipeline Architecture &amp; Learning</a:t>
            </a:r>
            <a:endParaRPr lang="en-US" sz="1500" dirty="0"/>
          </a:p>
        </p:txBody>
      </p:sp>
      <p:sp>
        <p:nvSpPr>
          <p:cNvPr id="14" name="Badge 6"/>
          <p:cNvSpPr txBox="1"/>
          <p:nvPr/>
        </p:nvSpPr>
        <p:spPr>
          <a:xfrm>
            <a:off x="6400800" y="1463040"/>
            <a:ext cx="548640" cy="548640"/>
          </a:xfrm>
          <a:prstGeom prst="ellipse">
            <a:avLst/>
          </a:prstGeom>
          <a:solidFill>
            <a:srgbClr val="1A8B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5" name="Contents item 6"/>
          <p:cNvSpPr txBox="1"/>
          <p:nvPr/>
        </p:nvSpPr>
        <p:spPr>
          <a:xfrm>
            <a:off x="7178040" y="1463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Methodology — Experimental Setup</a:t>
            </a:r>
            <a:endParaRPr lang="en-US" sz="1500" dirty="0"/>
          </a:p>
        </p:txBody>
      </p:sp>
      <p:sp>
        <p:nvSpPr>
          <p:cNvPr id="16" name="Badge 7"/>
          <p:cNvSpPr txBox="1"/>
          <p:nvPr/>
        </p:nvSpPr>
        <p:spPr>
          <a:xfrm>
            <a:off x="6400800" y="2377440"/>
            <a:ext cx="548640" cy="548640"/>
          </a:xfrm>
          <a:prstGeom prst="ellipse">
            <a:avLst/>
          </a:prstGeom>
          <a:solidFill>
            <a:srgbClr val="1A8B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17" name="Contents item 7"/>
          <p:cNvSpPr txBox="1"/>
          <p:nvPr/>
        </p:nvSpPr>
        <p:spPr>
          <a:xfrm>
            <a:off x="7178040" y="2377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Results — Reward, Convergence &amp; Speed</a:t>
            </a:r>
            <a:endParaRPr lang="en-US" sz="1500" dirty="0"/>
          </a:p>
        </p:txBody>
      </p:sp>
      <p:sp>
        <p:nvSpPr>
          <p:cNvPr id="18" name="Badge 8"/>
          <p:cNvSpPr txBox="1"/>
          <p:nvPr/>
        </p:nvSpPr>
        <p:spPr>
          <a:xfrm>
            <a:off x="6400800" y="3291840"/>
            <a:ext cx="548640" cy="548640"/>
          </a:xfrm>
          <a:prstGeom prst="ellipse">
            <a:avLst/>
          </a:prstGeom>
          <a:solidFill>
            <a:srgbClr val="1A8B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Contents item 8"/>
          <p:cNvSpPr txBox="1"/>
          <p:nvPr/>
        </p:nvSpPr>
        <p:spPr>
          <a:xfrm>
            <a:off x="7178040" y="3291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Results — Energy, Fairness, Safety &amp; Comparison</a:t>
            </a:r>
            <a:endParaRPr lang="en-US" sz="1500" dirty="0"/>
          </a:p>
        </p:txBody>
      </p:sp>
      <p:sp>
        <p:nvSpPr>
          <p:cNvPr id="20" name="Badge 9"/>
          <p:cNvSpPr txBox="1"/>
          <p:nvPr/>
        </p:nvSpPr>
        <p:spPr>
          <a:xfrm>
            <a:off x="6400800" y="4206240"/>
            <a:ext cx="548640" cy="548640"/>
          </a:xfrm>
          <a:prstGeom prst="ellipse">
            <a:avLst/>
          </a:prstGeom>
          <a:solidFill>
            <a:srgbClr val="1A8B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21" name="Contents item 9"/>
          <p:cNvSpPr txBox="1"/>
          <p:nvPr/>
        </p:nvSpPr>
        <p:spPr>
          <a:xfrm>
            <a:off x="7178040" y="4206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Conclusion &amp; Future Work</a:t>
            </a:r>
            <a:endParaRPr lang="en-US" sz="1500" dirty="0"/>
          </a:p>
        </p:txBody>
      </p:sp>
      <p:sp>
        <p:nvSpPr>
          <p:cNvPr id="22" name="Badge 10"/>
          <p:cNvSpPr txBox="1"/>
          <p:nvPr/>
        </p:nvSpPr>
        <p:spPr>
          <a:xfrm>
            <a:off x="6400800" y="5120640"/>
            <a:ext cx="548640" cy="548640"/>
          </a:xfrm>
          <a:prstGeom prst="ellipse">
            <a:avLst/>
          </a:prstGeom>
          <a:solidFill>
            <a:srgbClr val="1A8B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23" name="Contents item 10"/>
          <p:cNvSpPr txBox="1"/>
          <p:nvPr/>
        </p:nvSpPr>
        <p:spPr>
          <a:xfrm>
            <a:off x="7178040" y="5120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References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8B8B"/>
                </a:solidFill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5" name="Key points"/>
          <p:cNvSpPr txBox="1"/>
          <p:nvPr/>
        </p:nvSpPr>
        <p:spPr>
          <a:xfrm>
            <a:off x="548640" y="1463040"/>
            <a:ext cx="6858000" cy="4572000"/>
          </a:xfrm>
          <a:prstGeom prst="roundRect">
            <a:avLst>
              <a:gd name="adj" fmla="val 1200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Why Autonomous UAV Swarms Matter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Golden window: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survival odds drop sharply after about 72 hours; blocked roads and rubble slow ground teams.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Single-drone limits: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short battery endurance, narrow sensing, and a single point of failure.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Swarm advantage: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heterogeneous UAVs search, assess and deliver in parallel across large zones.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Research gap: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existing methods need centralised control, fixed task sets, or stable links, and fail under UAV loss.</a:t>
            </a:r>
            <a:endParaRPr lang="en-US" sz="1800" dirty="0"/>
          </a:p>
        </p:txBody>
      </p:sp>
      <p:sp>
        <p:nvSpPr>
          <p:cNvPr id="6" name="Stat 72"/>
          <p:cNvSpPr txBox="1"/>
          <p:nvPr/>
        </p:nvSpPr>
        <p:spPr>
          <a:xfrm>
            <a:off x="7680960" y="1463040"/>
            <a:ext cx="3931920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5CAA"/>
                </a:solidFill>
              </a:rPr>
              <a:t>72 hrs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Critical window for locating survivors</a:t>
            </a:r>
            <a:endParaRPr lang="en-US" sz="3400" dirty="0"/>
          </a:p>
        </p:txBody>
      </p:sp>
      <p:sp>
        <p:nvSpPr>
          <p:cNvPr id="7" name="Stat fleet"/>
          <p:cNvSpPr txBox="1"/>
          <p:nvPr/>
        </p:nvSpPr>
        <p:spPr>
          <a:xfrm>
            <a:off x="7680960" y="3017520"/>
            <a:ext cx="3931920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8B8B"/>
                </a:solidFill>
              </a:rPr>
              <a:t>10–30 UAVs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Heterogeneous swarm size in the simulations</a:t>
            </a:r>
            <a:endParaRPr lang="en-US" sz="3400" dirty="0"/>
          </a:p>
        </p:txBody>
      </p:sp>
      <p:sp>
        <p:nvSpPr>
          <p:cNvPr id="8" name="Stat speed"/>
          <p:cNvSpPr txBox="1"/>
          <p:nvPr/>
        </p:nvSpPr>
        <p:spPr>
          <a:xfrm>
            <a:off x="7680960" y="4572000"/>
            <a:ext cx="3931920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B29"/>
                </a:solidFill>
              </a:rPr>
              <a:t>30–40%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Faster mission completion than RL baselines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8B8B"/>
                </a:solidFill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Existing Works / Literature Survey</a:t>
            </a:r>
            <a:endParaRPr lang="en-US" sz="3000" dirty="0"/>
          </a:p>
        </p:txBody>
      </p:sp>
      <p:graphicFrame>
        <p:nvGraphicFramePr>
          <p:cNvPr id="5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Paradigm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Main idea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Key limitation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A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Coalition games [4, 14, 19–22]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Fair, distributed team formation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Static assumptions; no real-time learning or path planning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Priority heuristics [10, 12]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Urgency-based task assignment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No dynamic reassignment or learning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PSO / GA path planning [30, 31]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Metaheuristic routing and sequencing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Weak real-time replanning; ignore coordination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DQN / PPO / MADDPG [13, 25–27]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Learned task and path policies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Slow adaptation; no meta-learning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Joint MARL [32, 35]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Task assignment + path planning together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Single-level training; no explicit fault tolerance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Proposed RCTP (2026)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MAML + MA-DDPG, coalitions, priorities, 3D paths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End-to-end, few-shot adaptation, self-healing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</a:tr>
            </a:tbl>
          </a:graphicData>
        </a:graphic>
      </p:graphicFrame>
      <p:sp>
        <p:nvSpPr>
          <p:cNvPr id="6" name="Table note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</a:rPr>
              <a:t>Bracketed numbers are reference indices from the base paper (Table 1).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8B8B"/>
                </a:solidFill>
              </a:rPr>
              <a:t>SECTION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Objectives</a:t>
            </a:r>
            <a:endParaRPr lang="en-US" sz="3000" dirty="0"/>
          </a:p>
        </p:txBody>
      </p:sp>
      <p:sp>
        <p:nvSpPr>
          <p:cNvPr id="5" name="Objective card 1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6" name="Badge 1"/>
          <p:cNvSpPr txBox="1"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2E5C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Objective title 1"/>
          <p:cNvSpPr txBox="1"/>
          <p:nvPr/>
        </p:nvSpPr>
        <p:spPr>
          <a:xfrm>
            <a:off x="77724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Rapid meta-adaptation</a:t>
            </a:r>
            <a:endParaRPr lang="en-US" sz="1700" dirty="0"/>
          </a:p>
        </p:txBody>
      </p:sp>
      <p:sp>
        <p:nvSpPr>
          <p:cNvPr id="8" name="Objective text 1"/>
          <p:cNvSpPr txBox="1"/>
          <p:nvPr/>
        </p:nvSpPr>
        <p:spPr>
          <a:xfrm>
            <a:off x="77724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 MAML so swarms adapt to new disaster scenarios with only a few gradient updates.</a:t>
            </a:r>
            <a:endParaRPr lang="en-US" sz="1400" dirty="0"/>
          </a:p>
        </p:txBody>
      </p:sp>
      <p:sp>
        <p:nvSpPr>
          <p:cNvPr id="9" name="Objective card 2"/>
          <p:cNvSpPr/>
          <p:nvPr/>
        </p:nvSpPr>
        <p:spPr>
          <a:xfrm>
            <a:off x="4343400" y="1463040"/>
            <a:ext cx="3520440" cy="219456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0" name="Badge 2"/>
          <p:cNvSpPr txBox="1"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1A8B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Objective title 2"/>
          <p:cNvSpPr txBox="1"/>
          <p:nvPr/>
        </p:nvSpPr>
        <p:spPr>
          <a:xfrm>
            <a:off x="457200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Dynamic coalitions</a:t>
            </a:r>
            <a:endParaRPr lang="en-US" sz="1700" dirty="0"/>
          </a:p>
        </p:txBody>
      </p:sp>
      <p:sp>
        <p:nvSpPr>
          <p:cNvPr id="12" name="Objective text 2"/>
          <p:cNvSpPr txBox="1"/>
          <p:nvPr/>
        </p:nvSpPr>
        <p:spPr>
          <a:xfrm>
            <a:off x="457200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 resource-aware teams using an interpretable suitability score.</a:t>
            </a:r>
            <a:endParaRPr lang="en-US" sz="1400" dirty="0"/>
          </a:p>
        </p:txBody>
      </p:sp>
      <p:sp>
        <p:nvSpPr>
          <p:cNvPr id="13" name="Objective card 3"/>
          <p:cNvSpPr/>
          <p:nvPr/>
        </p:nvSpPr>
        <p:spPr>
          <a:xfrm>
            <a:off x="8138160" y="1463040"/>
            <a:ext cx="3520440" cy="219456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4" name="Badge 3"/>
          <p:cNvSpPr txBox="1"/>
          <p:nvPr/>
        </p:nvSpPr>
        <p:spPr>
          <a:xfrm>
            <a:off x="8366760" y="1645920"/>
            <a:ext cx="457200" cy="457200"/>
          </a:xfrm>
          <a:prstGeom prst="ellipse">
            <a:avLst/>
          </a:prstGeom>
          <a:solidFill>
            <a:srgbClr val="D97B2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Objective title 3"/>
          <p:cNvSpPr txBox="1"/>
          <p:nvPr/>
        </p:nvSpPr>
        <p:spPr>
          <a:xfrm>
            <a:off x="836676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Priority scheduling</a:t>
            </a:r>
            <a:endParaRPr lang="en-US" sz="1700" dirty="0"/>
          </a:p>
        </p:txBody>
      </p:sp>
      <p:sp>
        <p:nvSpPr>
          <p:cNvPr id="16" name="Objective text 3"/>
          <p:cNvSpPr txBox="1"/>
          <p:nvPr/>
        </p:nvSpPr>
        <p:spPr>
          <a:xfrm>
            <a:off x="836676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Serve urgent tasks first while balancing workload (Jain’s fairness).</a:t>
            </a:r>
            <a:endParaRPr lang="en-US" sz="1400" dirty="0"/>
          </a:p>
        </p:txBody>
      </p:sp>
      <p:sp>
        <p:nvSpPr>
          <p:cNvPr id="17" name="Objective card 4"/>
          <p:cNvSpPr/>
          <p:nvPr/>
        </p:nvSpPr>
        <p:spPr>
          <a:xfrm>
            <a:off x="548640" y="3886200"/>
            <a:ext cx="3520440" cy="219456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8" name="Badge 4"/>
          <p:cNvSpPr txBox="1"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B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Objective title 4"/>
          <p:cNvSpPr txBox="1"/>
          <p:nvPr/>
        </p:nvSpPr>
        <p:spPr>
          <a:xfrm>
            <a:off x="77724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Continuous 3D control</a:t>
            </a:r>
            <a:endParaRPr lang="en-US" sz="1700" dirty="0"/>
          </a:p>
        </p:txBody>
      </p:sp>
      <p:sp>
        <p:nvSpPr>
          <p:cNvPr id="20" name="Objective text 4"/>
          <p:cNvSpPr txBox="1"/>
          <p:nvPr/>
        </p:nvSpPr>
        <p:spPr>
          <a:xfrm>
            <a:off x="777240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 MA-DDPG for smooth speed, heading and climb actions, avoiding discretisation.</a:t>
            </a:r>
            <a:endParaRPr lang="en-US" sz="1400" dirty="0"/>
          </a:p>
        </p:txBody>
      </p:sp>
      <p:sp>
        <p:nvSpPr>
          <p:cNvPr id="21" name="Objective card 5"/>
          <p:cNvSpPr/>
          <p:nvPr/>
        </p:nvSpPr>
        <p:spPr>
          <a:xfrm>
            <a:off x="4343400" y="3886200"/>
            <a:ext cx="3520440" cy="219456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2" name="Badge 5"/>
          <p:cNvSpPr txBox="1"/>
          <p:nvPr/>
        </p:nvSpPr>
        <p:spPr>
          <a:xfrm>
            <a:off x="4572000" y="40690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Objective title 5"/>
          <p:cNvSpPr txBox="1"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Online fault tolerance</a:t>
            </a:r>
            <a:endParaRPr lang="en-US" sz="1700" dirty="0"/>
          </a:p>
        </p:txBody>
      </p:sp>
      <p:sp>
        <p:nvSpPr>
          <p:cNvPr id="24" name="Objective text 5"/>
          <p:cNvSpPr txBox="1"/>
          <p:nvPr/>
        </p:nvSpPr>
        <p:spPr>
          <a:xfrm>
            <a:off x="4572000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Detect UAV failures and reassign tasks immediately, with connectivity-aware replanning.</a:t>
            </a:r>
            <a:endParaRPr lang="en-US" sz="1400" dirty="0"/>
          </a:p>
        </p:txBody>
      </p:sp>
      <p:sp>
        <p:nvSpPr>
          <p:cNvPr id="25" name="Objective card 6"/>
          <p:cNvSpPr/>
          <p:nvPr/>
        </p:nvSpPr>
        <p:spPr>
          <a:xfrm>
            <a:off x="8138160" y="3886200"/>
            <a:ext cx="3520440" cy="219456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6" name="Badge 6"/>
          <p:cNvSpPr txBox="1"/>
          <p:nvPr/>
        </p:nvSpPr>
        <p:spPr>
          <a:xfrm>
            <a:off x="8366760" y="4069080"/>
            <a:ext cx="457200" cy="457200"/>
          </a:xfrm>
          <a:prstGeom prst="ellipse">
            <a:avLst/>
          </a:prstGeom>
          <a:solidFill>
            <a:srgbClr val="5B7DB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Objective title 6"/>
          <p:cNvSpPr txBox="1"/>
          <p:nvPr/>
        </p:nvSpPr>
        <p:spPr>
          <a:xfrm>
            <a:off x="836676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Real-time feasibility</a:t>
            </a:r>
            <a:endParaRPr lang="en-US" sz="1700" dirty="0"/>
          </a:p>
        </p:txBody>
      </p:sp>
      <p:sp>
        <p:nvSpPr>
          <p:cNvPr id="28" name="Objective text 6"/>
          <p:cNvSpPr txBox="1"/>
          <p:nvPr/>
        </p:nvSpPr>
        <p:spPr>
          <a:xfrm>
            <a:off x="8366760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Keep onboard inference lightweight: below 20 ms per control step on an ARM processor.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8B8B"/>
                </a:solidFill>
              </a:rPr>
              <a:t>SECTION 4 · METHODOLOGY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Model: Heterogeneous Fleet</a:t>
            </a:r>
            <a:endParaRPr lang="en-US" sz="3000" dirty="0"/>
          </a:p>
        </p:txBody>
      </p:sp>
      <p:pic>
        <p:nvPicPr>
          <p:cNvPr id="5" name="Fig 2" descr="Task sequences for UAV coalitions with priority level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6126480" cy="256032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" y="40233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</a:rPr>
              <a:t>Fig. 2 (base paper): task sequences for coalitions with priority levels P1–P3.</a:t>
            </a:r>
            <a:endParaRPr lang="en-US" sz="1200" dirty="0"/>
          </a:p>
        </p:txBody>
      </p:sp>
      <p:sp>
        <p:nvSpPr>
          <p:cNvPr id="7" name="Fleet heterogeneity"/>
          <p:cNvSpPr txBox="1"/>
          <p:nvPr/>
        </p:nvSpPr>
        <p:spPr>
          <a:xfrm>
            <a:off x="548640" y="4526280"/>
            <a:ext cx="6126480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Heterogeneous fleet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Differs in payload, speed, sensing, comm. range and energy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Example roles: scout, thermal life-detection, heavy-lift delivery</a:t>
            </a:r>
            <a:endParaRPr lang="en-US" sz="1600" dirty="0"/>
          </a:p>
        </p:txBody>
      </p:sp>
      <p:sp>
        <p:nvSpPr>
          <p:cNvPr id="8" name="Step 1"/>
          <p:cNvSpPr txBox="1"/>
          <p:nvPr/>
        </p:nvSpPr>
        <p:spPr>
          <a:xfrm>
            <a:off x="6949440" y="1463040"/>
            <a:ext cx="4663440" cy="105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  Local sensing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Position, velocity, battery, obstacles, task states; noisy and partial.</a:t>
            </a:r>
            <a:endParaRPr lang="en-US" sz="1600" dirty="0"/>
          </a:p>
        </p:txBody>
      </p:sp>
      <p:sp>
        <p:nvSpPr>
          <p:cNvPr id="9" name="Step 2"/>
          <p:cNvSpPr txBox="1"/>
          <p:nvPr/>
        </p:nvSpPr>
        <p:spPr>
          <a:xfrm>
            <a:off x="6949440" y="2651760"/>
            <a:ext cx="4663440" cy="105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  Status exchange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Short-range neighbour sharing over intermittent LoS/NLoS links.</a:t>
            </a:r>
            <a:endParaRPr lang="en-US" sz="1600" dirty="0"/>
          </a:p>
        </p:txBody>
      </p:sp>
      <p:sp>
        <p:nvSpPr>
          <p:cNvPr id="10" name="Step 3"/>
          <p:cNvSpPr txBox="1"/>
          <p:nvPr/>
        </p:nvSpPr>
        <p:spPr>
          <a:xfrm>
            <a:off x="6949440" y="3840480"/>
            <a:ext cx="4663440" cy="105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3  Suitability &amp; coalitions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Score UAV-task pairs online; form teams without a ground station.</a:t>
            </a:r>
            <a:endParaRPr lang="en-US" sz="1600" dirty="0"/>
          </a:p>
        </p:txBody>
      </p:sp>
      <p:sp>
        <p:nvSpPr>
          <p:cNvPr id="11" name="Step 4"/>
          <p:cNvSpPr txBox="1"/>
          <p:nvPr/>
        </p:nvSpPr>
        <p:spPr>
          <a:xfrm>
            <a:off x="6949440" y="5029200"/>
            <a:ext cx="4663440" cy="105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4  Continuous execution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MA-DDPG actor outputs speed, heading, climb; avoid obstacles.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8B8B"/>
                </a:solidFill>
              </a:rPr>
              <a:t>SECTION 4 · METHODOLOGY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Coalition Formation &amp; Suitability Score</a:t>
            </a:r>
            <a:endParaRPr lang="en-US" sz="3000" dirty="0"/>
          </a:p>
        </p:txBody>
      </p:sp>
      <p:sp>
        <p:nvSpPr>
          <p:cNvPr id="5" name="Formula"/>
          <p:cNvSpPr txBox="1"/>
          <p:nvPr/>
        </p:nvSpPr>
        <p:spPr>
          <a:xfrm>
            <a:off x="548640" y="1463040"/>
            <a:ext cx="6766560" cy="105156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S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bg1"/>
                </a:solidFill>
              </a:rPr>
              <a:t>ij</a:t>
            </a:r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 = w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bg1"/>
                </a:solidFill>
              </a:rPr>
              <a:t>1</a:t>
            </a:r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·PL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bg1"/>
                </a:solidFill>
              </a:rPr>
              <a:t>i</a:t>
            </a:r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 + w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bg1"/>
                </a:solidFill>
              </a:rPr>
              <a:t>2</a:t>
            </a:r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·B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bg1"/>
                </a:solidFill>
              </a:rPr>
              <a:t>i</a:t>
            </a:r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 + w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bg1"/>
                </a:solidFill>
              </a:rPr>
              <a:t>3</a:t>
            </a:r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·ReqMatch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bg1"/>
                </a:solidFill>
              </a:rPr>
              <a:t>ij</a:t>
            </a:r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 − w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bg1"/>
                </a:solidFill>
              </a:rPr>
              <a:t>4</a:t>
            </a:r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·D̃</a:t>
            </a:r>
            <a:pPr algn="ctr" indent="0" marL="0">
              <a:buNone/>
            </a:pPr>
            <a:r>
              <a:rPr lang="en-US" sz="2600" b="1" baseline="-40000" dirty="0">
                <a:solidFill>
                  <a:schemeClr val="bg1"/>
                </a:solidFill>
              </a:rPr>
              <a:t>ij</a:t>
            </a:r>
            <a:endParaRPr lang="en-US" sz="2600" dirty="0"/>
          </a:p>
        </p:txBody>
      </p:sp>
      <p:sp>
        <p:nvSpPr>
          <p:cNvPr id="6" name="Param 1"/>
          <p:cNvSpPr txBox="1"/>
          <p:nvPr/>
        </p:nvSpPr>
        <p:spPr>
          <a:xfrm>
            <a:off x="548640" y="2697480"/>
            <a:ext cx="3291840" cy="15544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PLᵢ payload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Lift/sensor capacity; keeps heavy tasks off light UAVs.</a:t>
            </a:r>
            <a:endParaRPr lang="en-US" sz="1600" dirty="0"/>
          </a:p>
        </p:txBody>
      </p:sp>
      <p:sp>
        <p:nvSpPr>
          <p:cNvPr id="7" name="Param 2"/>
          <p:cNvSpPr txBox="1"/>
          <p:nvPr/>
        </p:nvSpPr>
        <p:spPr>
          <a:xfrm>
            <a:off x="4023360" y="2697480"/>
            <a:ext cx="3291840" cy="15544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Bᵢ battery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Residual energy; avoids mid-task power starvation.</a:t>
            </a:r>
            <a:endParaRPr lang="en-US" sz="1600" dirty="0"/>
          </a:p>
        </p:txBody>
      </p:sp>
      <p:sp>
        <p:nvSpPr>
          <p:cNvPr id="8" name="Param 3"/>
          <p:cNvSpPr txBox="1"/>
          <p:nvPr/>
        </p:nvSpPr>
        <p:spPr>
          <a:xfrm>
            <a:off x="548640" y="4434840"/>
            <a:ext cx="3291840" cy="15544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ReqMatch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Capability-to-task compatibility (e.g. right sensor).</a:t>
            </a:r>
            <a:endParaRPr lang="en-US" sz="1600" dirty="0"/>
          </a:p>
        </p:txBody>
      </p:sp>
      <p:sp>
        <p:nvSpPr>
          <p:cNvPr id="9" name="Param 4"/>
          <p:cNvSpPr txBox="1"/>
          <p:nvPr/>
        </p:nvSpPr>
        <p:spPr>
          <a:xfrm>
            <a:off x="4023360" y="4434840"/>
            <a:ext cx="3291840" cy="15544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D̃ᵢⱼ distance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Normalised UAV-task distance; favours nearby UAVs.</a:t>
            </a:r>
            <a:endParaRPr lang="en-US" sz="1600" dirty="0"/>
          </a:p>
        </p:txBody>
      </p:sp>
      <p:pic>
        <p:nvPicPr>
          <p:cNvPr id="10" name="Fig 1" descr="RCTP coalition-based architectur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463040"/>
            <a:ext cx="4023360" cy="256032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7589520" y="4023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</a:rPr>
              <a:t>Fig. 1 (base paper): RCTP architecture.</a:t>
            </a:r>
            <a:endParaRPr lang="en-US" sz="1200" dirty="0"/>
          </a:p>
        </p:txBody>
      </p:sp>
      <p:sp>
        <p:nvSpPr>
          <p:cNvPr id="12" name="Allocation objective"/>
          <p:cNvSpPr txBox="1"/>
          <p:nvPr/>
        </p:nvSpPr>
        <p:spPr>
          <a:xfrm>
            <a:off x="7589520" y="4526280"/>
            <a:ext cx="4023360" cy="15544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Allocation objective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Maximise α·Priority + β·Sᵢⱼ minus assignment and path cost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Subject to energy, capacity, connectivity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8B8B"/>
                </a:solidFill>
              </a:rPr>
              <a:t>SECTION 4 · METHODOLOGY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Proposed RCTP Pipeline Architecture</a:t>
            </a:r>
            <a:endParaRPr lang="en-US" sz="3000" dirty="0"/>
          </a:p>
        </p:txBody>
      </p:sp>
      <p:pic>
        <p:nvPicPr>
          <p:cNvPr id="5" name="Fig 3" descr="MAML-based MA-DDPG frame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6492240" cy="393192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" y="54864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</a:rPr>
              <a:t>Fig. 3 (base paper): MAML-based MA-DDPG framework for coalition formation, task assignment and path planning.</a:t>
            </a:r>
            <a:endParaRPr lang="en-US" sz="1200" dirty="0"/>
          </a:p>
        </p:txBody>
      </p:sp>
      <p:sp>
        <p:nvSpPr>
          <p:cNvPr id="7" name="Tier 1"/>
          <p:cNvSpPr txBox="1"/>
          <p:nvPr/>
        </p:nvSpPr>
        <p:spPr>
          <a:xfrm>
            <a:off x="7315200" y="1463040"/>
            <a:ext cx="4297680" cy="105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Offline meta-training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MAML learns an initialisation over varied obstacles, tasks, links and UAV states.</a:t>
            </a:r>
            <a:endParaRPr lang="en-US" sz="1600" dirty="0"/>
          </a:p>
        </p:txBody>
      </p:sp>
      <p:sp>
        <p:nvSpPr>
          <p:cNvPr id="8" name="Tier 2"/>
          <p:cNvSpPr txBox="1"/>
          <p:nvPr/>
        </p:nvSpPr>
        <p:spPr>
          <a:xfrm>
            <a:off x="7315200" y="2651760"/>
            <a:ext cx="4297680" cy="105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Planning layer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Suitability scores, urgent-first assignment, load balancing, replanning.</a:t>
            </a:r>
            <a:endParaRPr lang="en-US" sz="1600" dirty="0"/>
          </a:p>
        </p:txBody>
      </p:sp>
      <p:sp>
        <p:nvSpPr>
          <p:cNvPr id="9" name="Tier 3"/>
          <p:cNvSpPr txBox="1"/>
          <p:nvPr/>
        </p:nvSpPr>
        <p:spPr>
          <a:xfrm>
            <a:off x="7315200" y="3840480"/>
            <a:ext cx="4297680" cy="105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Online decentralised execution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Local actors only; centralised critic is used just in training (CTDE).</a:t>
            </a:r>
            <a:endParaRPr lang="en-US" sz="1600" dirty="0"/>
          </a:p>
        </p:txBody>
      </p:sp>
      <p:sp>
        <p:nvSpPr>
          <p:cNvPr id="10" name="Tier 4"/>
          <p:cNvSpPr txBox="1"/>
          <p:nvPr/>
        </p:nvSpPr>
        <p:spPr>
          <a:xfrm>
            <a:off x="7315200" y="5029200"/>
            <a:ext cx="4297680" cy="105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Self-healing recovery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Failed UAV’s tasks are released and re-scored across healthy UAVs.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8B8B"/>
                </a:solidFill>
              </a:rPr>
              <a:t>SECTION 4 · METHODOLOGY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Continuous Flight (MA-DDPG) &amp; Fast Adaptation (MAML)</a:t>
            </a:r>
            <a:endParaRPr lang="en-US" sz="3000" dirty="0"/>
          </a:p>
        </p:txBody>
      </p:sp>
      <p:sp>
        <p:nvSpPr>
          <p:cNvPr id="5" name="MA-DDPG"/>
          <p:cNvSpPr txBox="1"/>
          <p:nvPr/>
        </p:nvSpPr>
        <p:spPr>
          <a:xfrm>
            <a:off x="548640" y="1463040"/>
            <a:ext cx="5486400" cy="2286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MA-DDPG: continuous control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Actions: speed, heading, climb plus task, coalition, path and comm preferences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Decentralised actors, centralised critic during training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Collision risk modelled with Gaussian position error</a:t>
            </a:r>
            <a:endParaRPr lang="en-US" sz="1600" dirty="0"/>
          </a:p>
        </p:txBody>
      </p:sp>
      <p:sp>
        <p:nvSpPr>
          <p:cNvPr id="6" name="MAML"/>
          <p:cNvSpPr txBox="1"/>
          <p:nvPr/>
        </p:nvSpPr>
        <p:spPr>
          <a:xfrm>
            <a:off x="548640" y="3886200"/>
            <a:ext cx="5486400" cy="2286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MAML: learning to adapt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Meta-train over diverse disaster scenarios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Inner loop: θ′ = θ − α∇L(θ); outer loop updates θ across scenarios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Few gradient updates at deployment, not retraining</a:t>
            </a:r>
            <a:endParaRPr lang="en-US" sz="1600" dirty="0"/>
          </a:p>
        </p:txBody>
      </p:sp>
      <p:pic>
        <p:nvPicPr>
          <p:cNvPr id="7" name="Fig 7" descr="Zero-shot and few-shot adap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463040"/>
            <a:ext cx="5303520" cy="384048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6309360" y="5394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</a:rPr>
              <a:t>Fig. 7 (base paper): task completion vs adaptation steps. RCTP ≈ 55% → ≈ 90%; MA-DDPG ≈ 52% → ≈ 56%.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8B8B"/>
                </a:solidFill>
              </a:rPr>
              <a:t>SECTION 4 · METHODOLOGY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Simulation Parameters &amp; Experimental Setup</a:t>
            </a:r>
            <a:endParaRPr lang="en-US" sz="3000" dirty="0"/>
          </a:p>
        </p:txBody>
      </p:sp>
      <p:graphicFrame>
        <p:nvGraphicFramePr>
          <p:cNvPr id="11" name="Paramet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400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A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Environment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3D, 1000 × 1000 × 1000 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UAVs / tasks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10–30 UAVs; 6–20 tasks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Altitude / speed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50–250 m; 20–40 m/s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Battery capacity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101–160 Wh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Channel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Probabilistic LoS / NLoS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Training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2500 episodes, 300 steps each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Learning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γ = 0.95; lr 0.0001; batch 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Networks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4 FC layers (400–300–200–200)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Fig 4" descr="3D implementation scenario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1463040"/>
            <a:ext cx="4389120" cy="338328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7223760" y="4937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</a:rPr>
              <a:t>Fig. 4 (base paper): (a) random deployment, (b) assignment, (c) obstacle-aware paths.</a:t>
            </a:r>
            <a:endParaRPr lang="en-US" sz="1200" dirty="0"/>
          </a:p>
        </p:txBody>
      </p:sp>
      <p:sp>
        <p:nvSpPr>
          <p:cNvPr id="8" name="Baselines"/>
          <p:cNvSpPr txBox="1"/>
          <p:nvPr/>
        </p:nvSpPr>
        <p:spPr>
          <a:xfrm>
            <a:off x="548640" y="5806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Baselines compared: DQN, PPO and MA-DDPG. Adam optimiser; Ornstein–Uhlenbeck exploration noise.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8B8B"/>
                </a:solidFill>
              </a:rPr>
              <a:t>SECTION 5 · RESULTS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Reward, Convergence &amp; Speed</a:t>
            </a:r>
            <a:endParaRPr lang="en-US" sz="3000" dirty="0"/>
          </a:p>
        </p:txBody>
      </p:sp>
      <p:graphicFrame>
        <p:nvGraphicFramePr>
          <p:cNvPr id="5" name="Improvement chart" descr=""/>
          <p:cNvGraphicFramePr/>
          <p:nvPr/>
        </p:nvGraphicFramePr>
        <p:xfrm>
          <a:off x="548640" y="146304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6" name="Fig 5" descr="Average reward versus episode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0" y="1463040"/>
            <a:ext cx="4846320" cy="347472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</a:rPr>
              <a:t>Fig. 5 (base paper): average reward vs episodes.</a:t>
            </a:r>
            <a:endParaRPr lang="en-US" sz="1200" dirty="0"/>
          </a:p>
        </p:txBody>
      </p:sp>
      <p:sp>
        <p:nvSpPr>
          <p:cNvPr id="8" name="Stat reward"/>
          <p:cNvSpPr txBox="1"/>
          <p:nvPr/>
        </p:nvSpPr>
        <p:spPr>
          <a:xfrm>
            <a:off x="548640" y="5166360"/>
            <a:ext cx="3566160" cy="105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5CAA"/>
                </a:solidFill>
              </a:rPr>
              <a:t>+28.57%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reward vs MA-DDPG</a:t>
            </a:r>
            <a:endParaRPr lang="en-US" sz="3400" dirty="0"/>
          </a:p>
        </p:txBody>
      </p:sp>
      <p:sp>
        <p:nvSpPr>
          <p:cNvPr id="9" name="Stat converge"/>
          <p:cNvSpPr txBox="1"/>
          <p:nvPr/>
        </p:nvSpPr>
        <p:spPr>
          <a:xfrm>
            <a:off x="4297680" y="5166360"/>
            <a:ext cx="3566160" cy="105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8B8B"/>
                </a:solidFill>
              </a:rPr>
              <a:t>28.5%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faster convergence vs MA-DDPG</a:t>
            </a:r>
            <a:endParaRPr lang="en-US" sz="3400" dirty="0"/>
          </a:p>
        </p:txBody>
      </p:sp>
      <p:sp>
        <p:nvSpPr>
          <p:cNvPr id="10" name="Stat time"/>
          <p:cNvSpPr txBox="1"/>
          <p:nvPr/>
        </p:nvSpPr>
        <p:spPr>
          <a:xfrm>
            <a:off x="8046720" y="5166360"/>
            <a:ext cx="3566160" cy="105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B29"/>
                </a:solidFill>
              </a:rPr>
              <a:t>30–40%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shorter task completion time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8B8B"/>
                </a:solidFill>
              </a:rPr>
              <a:t>SECTION 5 · RESULTS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Energy, Fairness &amp; Safety</a:t>
            </a:r>
            <a:endParaRPr lang="en-US" sz="3000" dirty="0"/>
          </a:p>
        </p:txBody>
      </p:sp>
      <p:pic>
        <p:nvPicPr>
          <p:cNvPr id="5" name="Fig 6" descr="Energy efficiency comparis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3520440" cy="2240280"/>
          </a:xfrm>
          <a:prstGeom prst="rect">
            <a:avLst/>
          </a:prstGeom>
        </p:spPr>
      </p:pic>
      <p:sp>
        <p:nvSpPr>
          <p:cNvPr id="6" name="Stat Energy efficiency"/>
          <p:cNvSpPr txBox="1"/>
          <p:nvPr/>
        </p:nvSpPr>
        <p:spPr>
          <a:xfrm>
            <a:off x="548640" y="3794760"/>
            <a:ext cx="3520440" cy="10972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5CAA"/>
                </a:solidFill>
              </a:rPr>
              <a:t>10–20%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lower energy consumption</a:t>
            </a:r>
            <a:endParaRPr lang="en-US" sz="3400" dirty="0"/>
          </a:p>
        </p:txBody>
      </p:sp>
      <p:pic>
        <p:nvPicPr>
          <p:cNvPr id="7" name="Fig 10" descr="Fairness compariso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1417320"/>
            <a:ext cx="3520440" cy="2240280"/>
          </a:xfrm>
          <a:prstGeom prst="rect">
            <a:avLst/>
          </a:prstGeom>
        </p:spPr>
      </p:pic>
      <p:sp>
        <p:nvSpPr>
          <p:cNvPr id="8" name="Stat Fairness"/>
          <p:cNvSpPr txBox="1"/>
          <p:nvPr/>
        </p:nvSpPr>
        <p:spPr>
          <a:xfrm>
            <a:off x="4343400" y="3794760"/>
            <a:ext cx="3520440" cy="10972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8B8B"/>
                </a:solidFill>
              </a:rPr>
              <a:t>+8.7%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Jain’s index vs MA-DDPG</a:t>
            </a:r>
            <a:endParaRPr lang="en-US" sz="3400" dirty="0"/>
          </a:p>
        </p:txBody>
      </p:sp>
      <p:pic>
        <p:nvPicPr>
          <p:cNvPr id="9" name="Fig 11" descr="Collisions compariso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1417320"/>
            <a:ext cx="3520440" cy="2240280"/>
          </a:xfrm>
          <a:prstGeom prst="rect">
            <a:avLst/>
          </a:prstGeom>
        </p:spPr>
      </p:pic>
      <p:sp>
        <p:nvSpPr>
          <p:cNvPr id="10" name="Stat Collisions"/>
          <p:cNvSpPr txBox="1"/>
          <p:nvPr/>
        </p:nvSpPr>
        <p:spPr>
          <a:xfrm>
            <a:off x="8138160" y="3794760"/>
            <a:ext cx="3520440" cy="10972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B29"/>
                </a:solidFill>
              </a:rPr>
              <a:t>30–50%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fewer collisions across scenarios</a:t>
            </a:r>
            <a:endParaRPr lang="en-US" sz="3400" dirty="0"/>
          </a:p>
        </p:txBody>
      </p:sp>
      <p:sp>
        <p:nvSpPr>
          <p:cNvPr id="11" name="Fault tolerance"/>
          <p:cNvSpPr txBox="1"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Self-healing fault tolerance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Health status vector detects failure → tasks released immediately → reassigned to feasible UAVs with enough energy, links and capability → connectivity-aware replanning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8B8B"/>
                </a:solidFill>
              </a:rPr>
              <a:t>SECTION 5 · RESULTS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Comparison with Baselines</a:t>
            </a:r>
            <a:endParaRPr lang="en-US" sz="3000" dirty="0"/>
          </a:p>
        </p:txBody>
      </p:sp>
      <p:graphicFrame>
        <p:nvGraphicFramePr>
          <p:cNvPr id="1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286000"/>
                <a:gridCol w="228600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RCTP improvement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vs MA-DDPG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vs DQN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vs PPO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A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Average reward gain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+28.57%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+60.71%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+50%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Convergence-time reduction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28.5%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42.86%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50%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Fairness gain (Jain’s index)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8.7%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16.3%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20.5%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Energy-efficiency gain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8–12%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12–18%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15–20%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Task execution delay reduction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25–35%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40–50%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40–50%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cope note"/>
          <p:cNvSpPr txBox="1"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Reading the table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Delay figures come from the task and obstacle sweeps (Fig. 9); energy ranges from the task and obstacle sweeps (Fig. 6)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Results are simulation-only; real-world field trials are future work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8B8B"/>
                </a:solidFill>
              </a:rPr>
              <a:t>SECTION 5 · RESULTS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Ablation Analysis</a:t>
            </a:r>
            <a:endParaRPr lang="en-US" sz="3000" dirty="0"/>
          </a:p>
        </p:txBody>
      </p:sp>
      <p:pic>
        <p:nvPicPr>
          <p:cNvPr id="5" name="Fig 12" descr="Ablation stud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669280" cy="402336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" y="5577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</a:rPr>
              <a:t>Fig. 12 (base paper): task success rate with each component removed. Values read from chart, approximate.</a:t>
            </a:r>
            <a:endParaRPr lang="en-US" sz="1200" dirty="0"/>
          </a:p>
        </p:txBody>
      </p:sp>
      <p:sp>
        <p:nvSpPr>
          <p:cNvPr id="7" name="Ablation findings"/>
          <p:cNvSpPr txBox="1"/>
          <p:nvPr/>
        </p:nvSpPr>
        <p:spPr>
          <a:xfrm>
            <a:off x="6583680" y="1463040"/>
            <a:ext cx="5029200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Each component matters (full RCTP ≈ 92%)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Coalition formation: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largest drop (≈ 78%)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MAML adaptation: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≈ 85%; slower adaptation to new scenarios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Failure handling: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≈ 87%; hurts under UAV failures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Energy-aware planning: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≈ 88%; gradual degradation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8B8B"/>
                </a:solidFill>
              </a:rPr>
              <a:t>SECTION 6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Conclusion &amp; Future Work</a:t>
            </a:r>
            <a:endParaRPr lang="en-US" sz="3000" dirty="0"/>
          </a:p>
        </p:txBody>
      </p:sp>
      <p:sp>
        <p:nvSpPr>
          <p:cNvPr id="5" name="Key takeaways"/>
          <p:cNvSpPr txBox="1"/>
          <p:nvPr/>
        </p:nvSpPr>
        <p:spPr>
          <a:xfrm>
            <a:off x="548640" y="1463040"/>
            <a:ext cx="5486400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Key Takeaways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RCTP unifies coalition formation, task assignment and path planning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30–40% faster mission completion; 10–20% lower energy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MAML enables few-shot adaptation to unseen scenarios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Decentralised execution with online fault tolerance; under 20 ms inference</a:t>
            </a:r>
            <a:endParaRPr lang="en-US" sz="1800" dirty="0"/>
          </a:p>
        </p:txBody>
      </p:sp>
      <p:sp>
        <p:nvSpPr>
          <p:cNvPr id="6" name="Future scope"/>
          <p:cNvSpPr txBox="1"/>
          <p:nvPr/>
        </p:nvSpPr>
        <p:spPr>
          <a:xfrm>
            <a:off x="6217920" y="1463040"/>
            <a:ext cx="5394960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 w="9525">
            <a:solidFill>
              <a:srgbClr val="E2E6EE"/>
            </a:solidFill>
          </a:ln>
        </p:spPr>
        <p:txBody>
          <a:bodyPr wrap="square" lIns="101600" tIns="152400" rIns="152400" bIns="1016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Future Scope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Stronger meta-learning for out-of-distribution disasters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Larger, more heterogeneous, multi-agency swarms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Model wind, severe weather and reduced visibility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Real-world field experiments and a direct MAPPO comparison</a:t>
            </a:r>
            <a:endParaRPr lang="en-US" sz="1800" dirty="0"/>
          </a:p>
        </p:txBody>
      </p:sp>
      <p:sp>
        <p:nvSpPr>
          <p:cNvPr id="7" name="Limitations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chemeClr val="tx1"/>
                </a:solidFill>
              </a:rPr>
              <a:t>Limitations: </a:t>
            </a:r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simulation-only evaluation; performance may degrade on strongly out-of-distribution scenarios; weather effects not explicitly modelled.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8B8B"/>
                </a:solidFill>
              </a:rPr>
              <a:t>SECTION 7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5" name="Reference list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[1] S. Poudel and S. Moh, “MAML-integrated multi-agent reinforcement learning for adaptive coalition-based UAV coordination in disaster scenarios,” Internet of Things, vol. 37, 101930, 2026. doi:10.1016/j.iot.2026.101930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[2] S. Poudel and S. Moh, “Priority-aware task assignment and path planning for efficient and load-balanced multi-UAV operation,” Vehicular Communications, vol. 42, 100633, 2023.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[3] H. Qie et al., “Joint optimization of multi-UAV target assignment and path planning based on multi-agent reinforcement learning,” IEEE Access, vol. 7, pp. 146264–146272, 2019.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[4] J. Chen et al., “Joint task assignment and spectrum allocation in heterogeneous UAV communication networks: a coalition formation game-theoretic approach,” IEEE Trans. Wireless Commun., vol. 20, pp. 440–452, 2021.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[5] X. Tang et al., “Digital-twin-assisted task assignment in multi-UAV systems: a deep reinforcement learning approach,” IEEE Internet Things J., vol. 10, pp. 15362–15375, 2023.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[6] Y. Guan et al., “Cooperative UAV trajectory design for disaster area emergency communications: a multiagent PPO method,” IEEE Internet Things J., vol. 11, pp. 8848–8859, 2024.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[7] L. Vig and J. A. Adams, “Multi-robot coalition formation,” IEEE Trans. Robotics, vol. 22, pp. 637–649, 2006.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Acknowledgements</a:t>
            </a:r>
            <a:endParaRPr lang="en-US" sz="3000" dirty="0"/>
          </a:p>
        </p:txBody>
      </p:sp>
      <p:sp>
        <p:nvSpPr>
          <p:cNvPr id="4" name="Badge 1"/>
          <p:cNvSpPr txBox="1"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2E5C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Acknowledgement 1"/>
          <p:cNvSpPr txBox="1"/>
          <p:nvPr/>
        </p:nvSpPr>
        <p:spPr>
          <a:xfrm>
            <a:off x="1280160" y="1508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My seminar guide, Dr. Jacob John,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for guidance and feedback throughout this seminar.</a:t>
            </a:r>
            <a:endParaRPr lang="en-US" sz="1800" dirty="0"/>
          </a:p>
        </p:txBody>
      </p:sp>
      <p:sp>
        <p:nvSpPr>
          <p:cNvPr id="6" name="Badge 2"/>
          <p:cNvSpPr txBox="1"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1A8B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Acknowledgement 2"/>
          <p:cNvSpPr txBox="1"/>
          <p:nvPr/>
        </p:nvSpPr>
        <p:spPr>
          <a:xfrm>
            <a:off x="1280160" y="2606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Department of Computer Science and Engineering,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for the opportunity to present this seminar.</a:t>
            </a:r>
            <a:endParaRPr lang="en-US" sz="1800" dirty="0"/>
          </a:p>
        </p:txBody>
      </p:sp>
      <p:sp>
        <p:nvSpPr>
          <p:cNvPr id="8" name="Badge 3"/>
          <p:cNvSpPr txBox="1"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D97B2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Acknowledgement 3"/>
          <p:cNvSpPr txBox="1"/>
          <p:nvPr/>
        </p:nvSpPr>
        <p:spPr>
          <a:xfrm>
            <a:off x="1280160" y="3703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Poudel &amp; Moh, the authors of the base paper,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for publishing their work as open access.</a:t>
            </a:r>
            <a:endParaRPr lang="en-US" sz="1800" dirty="0"/>
          </a:p>
        </p:txBody>
      </p:sp>
      <p:sp>
        <p:nvSpPr>
          <p:cNvPr id="10" name="Badge 4"/>
          <p:cNvSpPr txBox="1"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5B7DB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Acknowledgement 4"/>
          <p:cNvSpPr txBox="1"/>
          <p:nvPr/>
        </p:nvSpPr>
        <p:spPr>
          <a:xfrm>
            <a:off x="1280160" y="4800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My classmates and peers,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for their support and helpful discussions.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badge"/>
          <p:cNvSpPr txBox="1"/>
          <p:nvPr/>
        </p:nvSpPr>
        <p:spPr>
          <a:xfrm>
            <a:off x="5367528" y="1188720"/>
            <a:ext cx="1463040" cy="1463040"/>
          </a:xfrm>
          <a:prstGeom prst="ellipse">
            <a:avLst/>
          </a:prstGeom>
          <a:solidFill>
            <a:srgbClr val="1A8B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?</a:t>
            </a:r>
            <a:endParaRPr lang="en-US" sz="5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14400" y="32918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Questions &amp; Discussion</a:t>
            </a:r>
            <a:endParaRPr lang="en-US" sz="3600" dirty="0"/>
          </a:p>
        </p:txBody>
      </p:sp>
      <p:sp>
        <p:nvSpPr>
          <p:cNvPr id="4" name="Thanks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8C7DD"/>
                </a:solidFill>
              </a:rPr>
              <a:t>Thank you for your attention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nar Template">
  <a:themeElements>
    <a:clrScheme name="Seminar Template">
      <a:dk1>
        <a:srgbClr val="1B2A4A"/>
      </a:dk1>
      <a:lt1>
        <a:srgbClr val="FFFFFF"/>
      </a:lt1>
      <a:dk2>
        <a:srgbClr val="4A5568"/>
      </a:dk2>
      <a:lt2>
        <a:srgbClr val="F4F6FA"/>
      </a:lt2>
      <a:accent1>
        <a:srgbClr val="2E5CAA"/>
      </a:accent1>
      <a:accent2>
        <a:srgbClr val="1A8B8B"/>
      </a:accent2>
      <a:accent3>
        <a:srgbClr val="D97B29"/>
      </a:accent3>
      <a:accent4>
        <a:srgbClr val="B04040"/>
      </a:accent4>
      <a:accent5>
        <a:srgbClr val="5B7DB1"/>
      </a:accent5>
      <a:accent6>
        <a:srgbClr val="111A2E"/>
      </a:accent6>
      <a:hlink>
        <a:srgbClr val="2E5CAA"/>
      </a:hlink>
      <a:folHlink>
        <a:srgbClr val="5B7DB1"/>
      </a:folHlink>
    </a:clrScheme>
    <a:fontScheme name="Seminar Templa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Swarm Intelligence for Disaster Response</dc:title>
  <dc:subject>PptxGenJS Presentation</dc:subject>
  <dc:creator>Abin Varghese</dc:creator>
  <cp:lastModifiedBy>Abin Varghese</cp:lastModifiedBy>
  <cp:revision>1</cp:revision>
  <dcterms:created xsi:type="dcterms:W3CDTF">2026-10-07T19:57:00Z</dcterms:created>
  <dcterms:modified xsi:type="dcterms:W3CDTF">2026-10-07T19:57:00Z</dcterms:modified>
</cp:coreProperties>
</file>